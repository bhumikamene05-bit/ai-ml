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" charset="1" panose="00000500000000000000"/>
      <p:regular r:id="rId12"/>
    </p:embeddedFont>
    <p:embeddedFont>
      <p:font typeface="Montserrat Bold" charset="1" panose="00000800000000000000"/>
      <p:regular r:id="rId13"/>
    </p:embeddedFont>
    <p:embeddedFont>
      <p:font typeface="League Spartan" charset="1" panose="00000800000000000000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9440" y="8502363"/>
            <a:ext cx="2105035" cy="2098432"/>
          </a:xfrm>
          <a:custGeom>
            <a:avLst/>
            <a:gdLst/>
            <a:ahLst/>
            <a:cxnLst/>
            <a:rect r="r" b="b" t="t" l="l"/>
            <a:pathLst>
              <a:path h="2098432" w="2105035">
                <a:moveTo>
                  <a:pt x="0" y="0"/>
                </a:moveTo>
                <a:lnTo>
                  <a:pt x="2105035" y="0"/>
                </a:lnTo>
                <a:lnTo>
                  <a:pt x="2105035" y="2098432"/>
                </a:lnTo>
                <a:lnTo>
                  <a:pt x="0" y="2098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4956202" cy="8229600"/>
          </a:xfrm>
          <a:custGeom>
            <a:avLst/>
            <a:gdLst/>
            <a:ahLst/>
            <a:cxnLst/>
            <a:rect r="r" b="b" t="t" l="l"/>
            <a:pathLst>
              <a:path h="8229600" w="4956202">
                <a:moveTo>
                  <a:pt x="0" y="0"/>
                </a:moveTo>
                <a:lnTo>
                  <a:pt x="4956202" y="0"/>
                </a:lnTo>
                <a:lnTo>
                  <a:pt x="49562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95369" y="8502363"/>
            <a:ext cx="8853465" cy="755937"/>
            <a:chOff x="0" y="0"/>
            <a:chExt cx="2331777" cy="199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777" cy="199095"/>
            </a:xfrm>
            <a:custGeom>
              <a:avLst/>
              <a:gdLst/>
              <a:ahLst/>
              <a:cxnLst/>
              <a:rect r="r" b="b" t="t" l="l"/>
              <a:pathLst>
                <a:path h="199095" w="2331777">
                  <a:moveTo>
                    <a:pt x="44597" y="0"/>
                  </a:moveTo>
                  <a:lnTo>
                    <a:pt x="2287180" y="0"/>
                  </a:lnTo>
                  <a:cubicBezTo>
                    <a:pt x="2299008" y="0"/>
                    <a:pt x="2310351" y="4699"/>
                    <a:pt x="2318714" y="13062"/>
                  </a:cubicBezTo>
                  <a:cubicBezTo>
                    <a:pt x="2327078" y="21426"/>
                    <a:pt x="2331777" y="32769"/>
                    <a:pt x="2331777" y="44597"/>
                  </a:cubicBezTo>
                  <a:lnTo>
                    <a:pt x="2331777" y="154498"/>
                  </a:lnTo>
                  <a:cubicBezTo>
                    <a:pt x="2331777" y="166325"/>
                    <a:pt x="2327078" y="177669"/>
                    <a:pt x="2318714" y="186032"/>
                  </a:cubicBezTo>
                  <a:cubicBezTo>
                    <a:pt x="2310351" y="194396"/>
                    <a:pt x="2299008" y="199095"/>
                    <a:pt x="2287180" y="199095"/>
                  </a:cubicBezTo>
                  <a:lnTo>
                    <a:pt x="44597" y="199095"/>
                  </a:lnTo>
                  <a:cubicBezTo>
                    <a:pt x="32769" y="199095"/>
                    <a:pt x="21426" y="194396"/>
                    <a:pt x="13062" y="186032"/>
                  </a:cubicBezTo>
                  <a:cubicBezTo>
                    <a:pt x="4699" y="177669"/>
                    <a:pt x="0" y="166325"/>
                    <a:pt x="0" y="154498"/>
                  </a:cubicBezTo>
                  <a:lnTo>
                    <a:pt x="0" y="44597"/>
                  </a:lnTo>
                  <a:cubicBezTo>
                    <a:pt x="0" y="32769"/>
                    <a:pt x="4699" y="21426"/>
                    <a:pt x="13062" y="13062"/>
                  </a:cubicBezTo>
                  <a:cubicBezTo>
                    <a:pt x="21426" y="4699"/>
                    <a:pt x="32769" y="0"/>
                    <a:pt x="4459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C384D9">
                      <a:alpha val="100000"/>
                    </a:srgbClr>
                  </a:gs>
                  <a:gs pos="50000">
                    <a:srgbClr val="5F2280">
                      <a:alpha val="100000"/>
                    </a:srgbClr>
                  </a:gs>
                  <a:gs pos="100000">
                    <a:srgbClr val="522FB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777" cy="237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669547" y="-556067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35283" y="631548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81581">
            <a:off x="16852951" y="7481048"/>
            <a:ext cx="1976788" cy="1947136"/>
          </a:xfrm>
          <a:custGeom>
            <a:avLst/>
            <a:gdLst/>
            <a:ahLst/>
            <a:cxnLst/>
            <a:rect r="r" b="b" t="t" l="l"/>
            <a:pathLst>
              <a:path h="1947136" w="1976788">
                <a:moveTo>
                  <a:pt x="0" y="0"/>
                </a:moveTo>
                <a:lnTo>
                  <a:pt x="1976788" y="0"/>
                </a:lnTo>
                <a:lnTo>
                  <a:pt x="1976788" y="1947136"/>
                </a:lnTo>
                <a:lnTo>
                  <a:pt x="0" y="1947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75527" y="3482931"/>
            <a:ext cx="14093148" cy="254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5"/>
              </a:lnSpc>
            </a:pPr>
            <a:r>
              <a:rPr lang="en-US" sz="14925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"/>
                <a:ea typeface="Montserrat"/>
                <a:cs typeface="Montserrat"/>
                <a:sym typeface="Montserrat"/>
              </a:rPr>
              <a:t>EDUGUARD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04527" y="8556824"/>
            <a:ext cx="80351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</a:pPr>
            <a:r>
              <a:rPr lang="en-US" sz="3399">
                <a:solidFill>
                  <a:srgbClr val="4A416C"/>
                </a:solidFill>
                <a:latin typeface="Montserrat"/>
                <a:ea typeface="Montserrat"/>
                <a:cs typeface="Montserrat"/>
                <a:sym typeface="Montserrat"/>
              </a:rPr>
              <a:t>Presented by </a:t>
            </a:r>
            <a:r>
              <a:rPr lang="en-US" b="true" sz="3399">
                <a:solidFill>
                  <a:srgbClr val="4A41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The Tech Tribe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B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20997" y="838200"/>
            <a:ext cx="12467055" cy="174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50"/>
              </a:lnSpc>
            </a:pPr>
            <a:r>
              <a:rPr lang="en-US" sz="102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"/>
                <a:ea typeface="Montserrat"/>
                <a:cs typeface="Montserrat"/>
                <a:sym typeface="Montserrat"/>
              </a:rPr>
              <a:t>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75553" y="3250342"/>
            <a:ext cx="19260154" cy="465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494" indent="-474747" lvl="1">
              <a:lnSpc>
                <a:spcPts val="6156"/>
              </a:lnSpc>
              <a:buFont typeface="Arial"/>
              <a:buChar char="•"/>
            </a:pPr>
            <a:r>
              <a:rPr lang="en-US" b="true" sz="439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Late, Manual Detection</a:t>
            </a:r>
          </a:p>
          <a:p>
            <a:pPr algn="l" marL="949494" indent="-474747" lvl="1">
              <a:lnSpc>
                <a:spcPts val="6156"/>
              </a:lnSpc>
              <a:buFont typeface="Arial"/>
              <a:buChar char="•"/>
            </a:pPr>
            <a:r>
              <a:rPr lang="en-US" b="true" sz="439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Manual tracking (attendance &amp; grades)</a:t>
            </a:r>
          </a:p>
          <a:p>
            <a:pPr algn="l" marL="949494" indent="-474747" lvl="1">
              <a:lnSpc>
                <a:spcPts val="6156"/>
              </a:lnSpc>
              <a:buFont typeface="Arial"/>
              <a:buChar char="•"/>
            </a:pPr>
            <a:r>
              <a:rPr lang="en-US" b="true" sz="439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Students flagged only after exam failure</a:t>
            </a:r>
          </a:p>
          <a:p>
            <a:pPr algn="l" marL="949494" indent="-474747" lvl="1">
              <a:lnSpc>
                <a:spcPts val="6156"/>
              </a:lnSpc>
              <a:buFont typeface="Arial"/>
              <a:buChar char="•"/>
            </a:pPr>
            <a:r>
              <a:rPr lang="en-US" b="true" sz="439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Reactive — no early warning</a:t>
            </a:r>
          </a:p>
          <a:p>
            <a:pPr algn="l" marL="949494" indent="-474747" lvl="1">
              <a:lnSpc>
                <a:spcPts val="6156"/>
              </a:lnSpc>
              <a:buFont typeface="Arial"/>
              <a:buChar char="•"/>
            </a:pPr>
            <a:r>
              <a:rPr lang="en-US" b="true" sz="439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Too many students to monitor at scale</a:t>
            </a:r>
          </a:p>
          <a:p>
            <a:pPr algn="r">
              <a:lnSpc>
                <a:spcPts val="615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95012" y="-368695"/>
            <a:ext cx="3289589" cy="2010304"/>
          </a:xfrm>
          <a:custGeom>
            <a:avLst/>
            <a:gdLst/>
            <a:ahLst/>
            <a:cxnLst/>
            <a:rect r="r" b="b" t="t" l="l"/>
            <a:pathLst>
              <a:path h="2010304" w="3289589">
                <a:moveTo>
                  <a:pt x="0" y="0"/>
                </a:moveTo>
                <a:lnTo>
                  <a:pt x="3289589" y="0"/>
                </a:lnTo>
                <a:lnTo>
                  <a:pt x="3289589" y="2010304"/>
                </a:lnTo>
                <a:lnTo>
                  <a:pt x="0" y="2010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6960" y="1028700"/>
            <a:ext cx="1883512" cy="1151035"/>
          </a:xfrm>
          <a:custGeom>
            <a:avLst/>
            <a:gdLst/>
            <a:ahLst/>
            <a:cxnLst/>
            <a:rect r="r" b="b" t="t" l="l"/>
            <a:pathLst>
              <a:path h="1151035" w="1883512">
                <a:moveTo>
                  <a:pt x="0" y="0"/>
                </a:moveTo>
                <a:lnTo>
                  <a:pt x="1883512" y="0"/>
                </a:lnTo>
                <a:lnTo>
                  <a:pt x="1883512" y="1151035"/>
                </a:lnTo>
                <a:lnTo>
                  <a:pt x="0" y="1151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54812" y="9135965"/>
            <a:ext cx="1883512" cy="1151035"/>
          </a:xfrm>
          <a:custGeom>
            <a:avLst/>
            <a:gdLst/>
            <a:ahLst/>
            <a:cxnLst/>
            <a:rect r="r" b="b" t="t" l="l"/>
            <a:pathLst>
              <a:path h="1151035" w="1883512">
                <a:moveTo>
                  <a:pt x="0" y="0"/>
                </a:moveTo>
                <a:lnTo>
                  <a:pt x="1883512" y="0"/>
                </a:lnTo>
                <a:lnTo>
                  <a:pt x="1883512" y="1151035"/>
                </a:lnTo>
                <a:lnTo>
                  <a:pt x="0" y="1151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98057" y="8988395"/>
            <a:ext cx="5995568" cy="3663958"/>
          </a:xfrm>
          <a:custGeom>
            <a:avLst/>
            <a:gdLst/>
            <a:ahLst/>
            <a:cxnLst/>
            <a:rect r="r" b="b" t="t" l="l"/>
            <a:pathLst>
              <a:path h="3663958" w="5995568">
                <a:moveTo>
                  <a:pt x="0" y="0"/>
                </a:moveTo>
                <a:lnTo>
                  <a:pt x="5995568" y="0"/>
                </a:lnTo>
                <a:lnTo>
                  <a:pt x="5995568" y="3663958"/>
                </a:lnTo>
                <a:lnTo>
                  <a:pt x="0" y="366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126" y="-926913"/>
            <a:ext cx="2613651" cy="2605453"/>
          </a:xfrm>
          <a:custGeom>
            <a:avLst/>
            <a:gdLst/>
            <a:ahLst/>
            <a:cxnLst/>
            <a:rect r="r" b="b" t="t" l="l"/>
            <a:pathLst>
              <a:path h="2605453" w="2613651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27914" y="8929498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1209" y="404389"/>
            <a:ext cx="15340491" cy="110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27"/>
              </a:lnSpc>
            </a:pPr>
            <a:r>
              <a:rPr lang="en-US" sz="6447">
                <a:solidFill>
                  <a:srgbClr val="2A3B6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SYSTEM WORKS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35526" y="2114681"/>
            <a:ext cx="10716832" cy="521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3132">
                <a:solidFill>
                  <a:srgbClr val="2A3B61"/>
                </a:solidFill>
                <a:latin typeface="Montserrat"/>
                <a:ea typeface="Montserrat"/>
                <a:cs typeface="Montserrat"/>
                <a:sym typeface="Montserrat"/>
              </a:rPr>
              <a:t>RANDOM F</a:t>
            </a:r>
            <a:r>
              <a:rPr lang="en-US" sz="3132">
                <a:solidFill>
                  <a:srgbClr val="2A3B61"/>
                </a:solidFill>
                <a:latin typeface="Montserrat"/>
                <a:ea typeface="Montserrat"/>
                <a:cs typeface="Montserrat"/>
                <a:sym typeface="Montserrat"/>
              </a:rPr>
              <a:t>OREST CLASSIFIER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3132">
                <a:solidFill>
                  <a:srgbClr val="2A3B61"/>
                </a:solidFill>
                <a:latin typeface="Montserrat"/>
                <a:ea typeface="Montserrat"/>
                <a:cs typeface="Montserrat"/>
                <a:sym typeface="Montserrat"/>
              </a:rPr>
              <a:t>70 / 30 TRAIN-TEST SPLIT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3132">
                <a:solidFill>
                  <a:srgbClr val="2A3B61"/>
                </a:solidFill>
                <a:latin typeface="Montserrat"/>
                <a:ea typeface="Montserrat"/>
                <a:cs typeface="Montserrat"/>
                <a:sym typeface="Montserrat"/>
              </a:rPr>
              <a:t>INPUTS: ACADEMIC, FINANCIAL, ENGAGEMENT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3132">
                <a:solidFill>
                  <a:srgbClr val="2A3B61"/>
                </a:solidFill>
                <a:latin typeface="Montserrat"/>
                <a:ea typeface="Montserrat"/>
                <a:cs typeface="Montserrat"/>
                <a:sym typeface="Montserrat"/>
              </a:rPr>
              <a:t>OUTPUTS: DROPOUT PROBABILITY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3132">
                <a:solidFill>
                  <a:srgbClr val="2A3B61"/>
                </a:solidFill>
                <a:latin typeface="Montserrat"/>
                <a:ea typeface="Montserrat"/>
                <a:cs typeface="Montserrat"/>
                <a:sym typeface="Montserrat"/>
              </a:rPr>
              <a:t>RISK BUCKETS: LOW · MEDIUM · HIGH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3132">
                <a:solidFill>
                  <a:srgbClr val="2A3B61"/>
                </a:solidFill>
                <a:latin typeface="Montserrat"/>
                <a:ea typeface="Montserrat"/>
                <a:cs typeface="Montserrat"/>
                <a:sym typeface="Montserrat"/>
              </a:rPr>
              <a:t>INSTEAD OF RULES, THE SYSTEM LEARNS PATTERNS.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7663" y="8371205"/>
            <a:ext cx="1269255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A3B6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makes the decision not fixed rules 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126" y="-926913"/>
            <a:ext cx="2613651" cy="2605453"/>
          </a:xfrm>
          <a:custGeom>
            <a:avLst/>
            <a:gdLst/>
            <a:ahLst/>
            <a:cxnLst/>
            <a:rect r="r" b="b" t="t" l="l"/>
            <a:pathLst>
              <a:path h="2605453" w="2613651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27914" y="636457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98584" y="9270390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44279" y="1678540"/>
            <a:ext cx="5560994" cy="8321979"/>
          </a:xfrm>
          <a:custGeom>
            <a:avLst/>
            <a:gdLst/>
            <a:ahLst/>
            <a:cxnLst/>
            <a:rect r="r" b="b" t="t" l="l"/>
            <a:pathLst>
              <a:path h="8321979" w="5560994">
                <a:moveTo>
                  <a:pt x="0" y="0"/>
                </a:moveTo>
                <a:lnTo>
                  <a:pt x="5560994" y="0"/>
                </a:lnTo>
                <a:lnTo>
                  <a:pt x="5560994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8" r="0" b="-14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18809" y="251989"/>
            <a:ext cx="15340491" cy="224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27"/>
              </a:lnSpc>
            </a:pPr>
            <a:r>
              <a:rPr lang="en-US" sz="6447">
                <a:solidFill>
                  <a:srgbClr val="2A3B6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</a:t>
            </a:r>
            <a:r>
              <a:rPr lang="en-US" sz="6447">
                <a:solidFill>
                  <a:srgbClr val="2A3B6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ARCHITECTURE</a:t>
            </a:r>
          </a:p>
          <a:p>
            <a:pPr algn="ctr" marL="0" indent="0" lvl="0">
              <a:lnSpc>
                <a:spcPts val="9027"/>
              </a:lnSpc>
            </a:p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126" y="-926913"/>
            <a:ext cx="2613651" cy="2605453"/>
          </a:xfrm>
          <a:custGeom>
            <a:avLst/>
            <a:gdLst/>
            <a:ahLst/>
            <a:cxnLst/>
            <a:rect r="r" b="b" t="t" l="l"/>
            <a:pathLst>
              <a:path h="2605453" w="2613651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27914" y="636457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3003" y="7431908"/>
            <a:ext cx="2923895" cy="3169533"/>
          </a:xfrm>
          <a:custGeom>
            <a:avLst/>
            <a:gdLst/>
            <a:ahLst/>
            <a:cxnLst/>
            <a:rect r="r" b="b" t="t" l="l"/>
            <a:pathLst>
              <a:path h="3169533" w="2923895">
                <a:moveTo>
                  <a:pt x="0" y="0"/>
                </a:moveTo>
                <a:lnTo>
                  <a:pt x="2923894" y="0"/>
                </a:lnTo>
                <a:lnTo>
                  <a:pt x="2923894" y="3169533"/>
                </a:lnTo>
                <a:lnTo>
                  <a:pt x="0" y="3169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70970" y="4185815"/>
            <a:ext cx="17919386" cy="324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54"/>
              </a:lnSpc>
            </a:pPr>
            <a:r>
              <a:rPr lang="en-US" b="true" sz="3681">
                <a:solidFill>
                  <a:srgbClr val="2A3B6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3681">
                <a:solidFill>
                  <a:srgbClr val="2A3B6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upports academic counselors</a:t>
            </a:r>
          </a:p>
          <a:p>
            <a:pPr algn="just" marL="0" indent="0" lvl="0">
              <a:lnSpc>
                <a:spcPts val="5154"/>
              </a:lnSpc>
            </a:pPr>
            <a:r>
              <a:rPr lang="en-US" b="true" sz="3681">
                <a:solidFill>
                  <a:srgbClr val="2A3B6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Helps prioritize students who need help</a:t>
            </a:r>
          </a:p>
          <a:p>
            <a:pPr algn="just" marL="0" indent="0" lvl="0">
              <a:lnSpc>
                <a:spcPts val="5154"/>
              </a:lnSpc>
            </a:pPr>
            <a:r>
              <a:rPr lang="en-US" b="true" sz="3681">
                <a:solidFill>
                  <a:srgbClr val="2A3B6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 be integrated with LMS systems</a:t>
            </a:r>
          </a:p>
          <a:p>
            <a:pPr algn="just" marL="0" indent="0" lvl="0">
              <a:lnSpc>
                <a:spcPts val="5154"/>
              </a:lnSpc>
            </a:pPr>
            <a:r>
              <a:rPr lang="en-US" b="true" sz="3681">
                <a:solidFill>
                  <a:srgbClr val="2A3B6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Scalable for large institutions</a:t>
            </a:r>
          </a:p>
          <a:p>
            <a:pPr algn="just" marL="0" indent="0" lvl="0">
              <a:lnSpc>
                <a:spcPts val="515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64270" y="1554715"/>
            <a:ext cx="15340491" cy="110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27"/>
              </a:lnSpc>
            </a:pPr>
            <a:r>
              <a:rPr lang="en-US" sz="6447">
                <a:solidFill>
                  <a:srgbClr val="2A3B6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13695" y="3001928"/>
            <a:ext cx="7260610" cy="12055989"/>
          </a:xfrm>
          <a:custGeom>
            <a:avLst/>
            <a:gdLst/>
            <a:ahLst/>
            <a:cxnLst/>
            <a:rect r="r" b="b" t="t" l="l"/>
            <a:pathLst>
              <a:path h="12055989" w="7260610">
                <a:moveTo>
                  <a:pt x="0" y="0"/>
                </a:moveTo>
                <a:lnTo>
                  <a:pt x="7260610" y="0"/>
                </a:lnTo>
                <a:lnTo>
                  <a:pt x="7260610" y="12055989"/>
                </a:lnTo>
                <a:lnTo>
                  <a:pt x="0" y="12055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6526" y="771525"/>
            <a:ext cx="10594947" cy="486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18"/>
              </a:lnSpc>
            </a:pPr>
            <a:r>
              <a:rPr lang="en-US" sz="13084" spc="1269">
                <a:solidFill>
                  <a:srgbClr val="2A3B6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448576"/>
            <a:ext cx="3718994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</a:pPr>
            <a:r>
              <a:rPr lang="en-US" sz="3000">
                <a:solidFill>
                  <a:srgbClr val="4A416C"/>
                </a:solidFill>
                <a:latin typeface="Montserrat"/>
                <a:ea typeface="Montserrat"/>
                <a:cs typeface="Montserrat"/>
                <a:sym typeface="Montserrat"/>
              </a:rPr>
              <a:t>Presented by </a:t>
            </a:r>
          </a:p>
          <a:p>
            <a:pPr algn="l" marL="0" indent="0" lvl="0">
              <a:lnSpc>
                <a:spcPts val="3150"/>
              </a:lnSpc>
            </a:pPr>
            <a:r>
              <a:rPr lang="en-US" sz="3000">
                <a:solidFill>
                  <a:srgbClr val="4A416C"/>
                </a:solidFill>
                <a:latin typeface="Montserrat"/>
                <a:ea typeface="Montserrat"/>
                <a:cs typeface="Montserrat"/>
                <a:sym typeface="Montserrat"/>
              </a:rPr>
              <a:t>Team </a:t>
            </a:r>
            <a:r>
              <a:rPr lang="en-US" b="true" sz="3000">
                <a:solidFill>
                  <a:srgbClr val="4A41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Tech Tribe (TripleT)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259300" y="636457"/>
            <a:ext cx="1688786" cy="1736540"/>
          </a:xfrm>
          <a:custGeom>
            <a:avLst/>
            <a:gdLst/>
            <a:ahLst/>
            <a:cxnLst/>
            <a:rect r="r" b="b" t="t" l="l"/>
            <a:pathLst>
              <a:path h="1736540" w="1688786">
                <a:moveTo>
                  <a:pt x="0" y="0"/>
                </a:moveTo>
                <a:lnTo>
                  <a:pt x="1688786" y="0"/>
                </a:lnTo>
                <a:lnTo>
                  <a:pt x="1688786" y="1736540"/>
                </a:lnTo>
                <a:lnTo>
                  <a:pt x="0" y="1736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78126" y="-926913"/>
            <a:ext cx="2613651" cy="2605453"/>
          </a:xfrm>
          <a:custGeom>
            <a:avLst/>
            <a:gdLst/>
            <a:ahLst/>
            <a:cxnLst/>
            <a:rect r="r" b="b" t="t" l="l"/>
            <a:pathLst>
              <a:path h="2605453" w="2613651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94015" y="7604193"/>
            <a:ext cx="3031394" cy="3163694"/>
          </a:xfrm>
          <a:custGeom>
            <a:avLst/>
            <a:gdLst/>
            <a:ahLst/>
            <a:cxnLst/>
            <a:rect r="r" b="b" t="t" l="l"/>
            <a:pathLst>
              <a:path h="3163694" w="3031394">
                <a:moveTo>
                  <a:pt x="0" y="0"/>
                </a:moveTo>
                <a:lnTo>
                  <a:pt x="3031393" y="0"/>
                </a:lnTo>
                <a:lnTo>
                  <a:pt x="3031393" y="3163694"/>
                </a:lnTo>
                <a:lnTo>
                  <a:pt x="0" y="3163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DAHB2_CAwVU</dc:identifier>
  <dcterms:modified xsi:type="dcterms:W3CDTF">2011-08-01T06:04:30Z</dcterms:modified>
  <cp:revision>1</cp:revision>
  <dc:title>Purple Playful Task Presentation Presentation</dc:title>
</cp:coreProperties>
</file>